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>
        <p:scale>
          <a:sx n="99" d="100"/>
          <a:sy n="99" d="100"/>
        </p:scale>
        <p:origin x="1248" y="6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5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6E8276"/>
                </a:solidFill>
                <a:latin typeface="Trebuchet MS"/>
              </a:defRPr>
            </a:pPr>
            <a:r>
              <a:t>IUT du Limousin • BUT Informatique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4572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 i="0">
                <a:solidFill>
                  <a:srgbClr val="6E8276"/>
                </a:solidFill>
                <a:latin typeface="Trebuchet MS"/>
              </a:defRPr>
            </a:pPr>
            <a:r>
              <a:t>Robert Gordon University (RGU)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200" b="1" i="0">
                <a:solidFill>
                  <a:srgbClr val="354E43"/>
                </a:solidFill>
                <a:latin typeface="Trebuchet MS"/>
              </a:defRPr>
            </a:pPr>
            <a:r>
              <a:t>Analyse « We vs Them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0" i="1">
                <a:solidFill>
                  <a:srgbClr val="2C3531"/>
                </a:solidFill>
                <a:latin typeface="Trebuchet MS"/>
              </a:defRPr>
            </a:pPr>
            <a:r>
              <a:t>Suivi multiplateforme de la polarisation linguistique et de la toxicité dans les commentaires de football.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49039"/>
            <a:ext cx="10360152" cy="25400"/>
          </a:xfrm>
          <a:prstGeom prst="rect">
            <a:avLst/>
          </a:prstGeom>
          <a:solidFill>
            <a:srgbClr val="D37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2C3531"/>
                </a:solidFill>
                <a:latin typeface="Calibri"/>
              </a:defRPr>
            </a:pPr>
            <a:r>
              <a:t>Présenté par :</a:t>
            </a:r>
            <a:br/>
            <a:r>
              <a:t>Jules Gayet</a:t>
            </a:r>
            <a:br/>
            <a:r>
              <a:t>Étudiant en BUT Informatique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11480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400" b="0" i="0">
                <a:solidFill>
                  <a:srgbClr val="2C3531"/>
                </a:solidFill>
                <a:latin typeface="Calibri"/>
              </a:defRPr>
            </a:pPr>
            <a:r>
              <a:t>Dates du Stage : 13 avril au 19 juin 2026</a:t>
            </a:r>
            <a:br/>
            <a:r>
              <a:t>Stage de fin de BUT2 (RGU, Aberdeen)</a:t>
            </a:r>
            <a:br/>
            <a:r>
              <a:t>Superviseur : Dr. Shahana Bano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6E8276"/>
                </a:solidFill>
                <a:latin typeface="Trebuchet MS"/>
              </a:defRPr>
            </a:pPr>
            <a:r>
              <a:t>GÉNÉRAL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354E43"/>
                </a:solidFill>
                <a:latin typeface="Trebuchet MS"/>
              </a:defRPr>
            </a:pPr>
            <a: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905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 i="0">
                <a:solidFill>
                  <a:srgbClr val="6E8276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6E8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 i="0">
                <a:solidFill>
                  <a:srgbClr val="6E8276"/>
                </a:solidFill>
                <a:latin typeface="Trebuchet M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354E43"/>
                </a:solidFill>
                <a:latin typeface="Trebuchet MS"/>
              </a:defRPr>
            </a:pPr>
            <a:r>
              <a:t>Partie 1 : Introduction &amp; Contexte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9260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C3531"/>
                </a:solidFill>
                <a:latin typeface="Calibri"/>
              </a:defRPr>
            </a:pPr>
            <a:r>
              <a:t>• Présentation de l'entreprise (RGU, Aberdeen)</a:t>
            </a:r>
          </a:p>
          <a:p>
            <a:pPr>
              <a:spcAft>
                <a:spcPts val="500"/>
              </a:spcAft>
              <a:defRPr sz="1100">
                <a:solidFill>
                  <a:srgbClr val="2C3531"/>
                </a:solidFill>
                <a:latin typeface="Calibri"/>
              </a:defRPr>
            </a:pPr>
            <a:r>
              <a:t>• Contexte de l'explosion des commentaires (+150%)</a:t>
            </a:r>
          </a:p>
          <a:p>
            <a:pPr>
              <a:spcAft>
                <a:spcPts val="500"/>
              </a:spcAft>
              <a:defRPr sz="1100">
                <a:solidFill>
                  <a:srgbClr val="2C3531"/>
                </a:solidFill>
                <a:latin typeface="Calibri"/>
              </a:defRPr>
            </a:pPr>
            <a:r>
              <a:t>• Énoncé de la problématique et objectifs du pipeline</a:t>
            </a:r>
          </a:p>
          <a:p>
            <a:pPr>
              <a:spcAft>
                <a:spcPts val="500"/>
              </a:spcAft>
              <a:defRPr sz="1100">
                <a:solidFill>
                  <a:srgbClr val="2C3531"/>
                </a:solidFill>
                <a:latin typeface="Calibri"/>
              </a:defRPr>
            </a:pPr>
            <a:r>
              <a:t>• Chronologie des 10 semaines de stage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1645920"/>
            <a:ext cx="329184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37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6864" y="18288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 i="0">
                <a:solidFill>
                  <a:srgbClr val="D37F63"/>
                </a:solidFill>
                <a:latin typeface="Trebuchet M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468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354E43"/>
                </a:solidFill>
                <a:latin typeface="Trebuchet MS"/>
              </a:defRPr>
            </a:pPr>
            <a:r>
              <a:t>Partie 2 : Réalisations Techniques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200400"/>
            <a:ext cx="29260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C3531"/>
                </a:solidFill>
                <a:latin typeface="Calibri"/>
              </a:defRPr>
            </a:pPr>
            <a:r>
              <a:t>• Solutions envisagées &amp; choix technologiques</a:t>
            </a:r>
          </a:p>
          <a:p>
            <a:pPr>
              <a:spcAft>
                <a:spcPts val="500"/>
              </a:spcAft>
              <a:defRPr sz="1100">
                <a:solidFill>
                  <a:srgbClr val="2C3531"/>
                </a:solidFill>
                <a:latin typeface="Calibri"/>
              </a:defRPr>
            </a:pPr>
            <a:r>
              <a:t>• Architecture modulaire en 5 couches (SOLID)</a:t>
            </a:r>
          </a:p>
          <a:p>
            <a:pPr>
              <a:spcAft>
                <a:spcPts val="500"/>
              </a:spcAft>
              <a:defRPr sz="1100">
                <a:solidFill>
                  <a:srgbClr val="2C3531"/>
                </a:solidFill>
                <a:latin typeface="Calibri"/>
              </a:defRPr>
            </a:pPr>
            <a:r>
              <a:t>• Formule de la polarisation &amp; SafetyGuardrail</a:t>
            </a:r>
          </a:p>
          <a:p>
            <a:pPr>
              <a:spcAft>
                <a:spcPts val="500"/>
              </a:spcAft>
              <a:defRPr sz="1100">
                <a:solidFill>
                  <a:srgbClr val="2C3531"/>
                </a:solidFill>
                <a:latin typeface="Calibri"/>
              </a:defRPr>
            </a:pPr>
            <a:r>
              <a:t>• Audit d'équité (Fairness) &amp; biais Reddit/TikTok</a:t>
            </a:r>
          </a:p>
          <a:p>
            <a:pPr>
              <a:spcAft>
                <a:spcPts val="500"/>
              </a:spcAft>
              <a:defRPr sz="1100">
                <a:solidFill>
                  <a:srgbClr val="2C3531"/>
                </a:solidFill>
                <a:latin typeface="Calibri"/>
              </a:defRPr>
            </a:pPr>
            <a:r>
              <a:t>• Analyse temporelle et corrélation (Pearson r=0.74)</a:t>
            </a:r>
          </a:p>
          <a:p>
            <a:pPr>
              <a:spcAft>
                <a:spcPts val="500"/>
              </a:spcAft>
              <a:defRPr sz="1100">
                <a:solidFill>
                  <a:srgbClr val="2C3531"/>
                </a:solidFill>
                <a:latin typeface="Calibri"/>
              </a:defRPr>
            </a:pPr>
            <a:r>
              <a:t>• Assistant décisionnel RAG Streamlit (ReAct / FAISS)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5592" y="1645920"/>
            <a:ext cx="329184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354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2" y="18288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 i="0">
                <a:solidFill>
                  <a:srgbClr val="354E43"/>
                </a:solidFill>
                <a:latin typeface="Trebuchet M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468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354E43"/>
                </a:solidFill>
                <a:latin typeface="Trebuchet MS"/>
              </a:defRPr>
            </a:pPr>
            <a:r>
              <a:t>Partie 3 : Bilan &amp; Perspectives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3200400"/>
            <a:ext cx="29260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C3531"/>
                </a:solidFill>
                <a:latin typeface="Calibri"/>
              </a:defRPr>
            </a:pPr>
            <a:r>
              <a:t>• Conclusion &amp; bilan de l'atteinte des objectifs</a:t>
            </a:r>
          </a:p>
          <a:p>
            <a:pPr>
              <a:spcAft>
                <a:spcPts val="500"/>
              </a:spcAft>
              <a:defRPr sz="1100">
                <a:solidFill>
                  <a:srgbClr val="2C3531"/>
                </a:solidFill>
                <a:latin typeface="Calibri"/>
              </a:defRPr>
            </a:pPr>
            <a:r>
              <a:t>• Prise de recul BUT2 (autonomie, données)</a:t>
            </a:r>
          </a:p>
          <a:p>
            <a:pPr>
              <a:spcAft>
                <a:spcPts val="500"/>
              </a:spcAft>
              <a:defRPr sz="1100">
                <a:solidFill>
                  <a:srgbClr val="2C3531"/>
                </a:solidFill>
                <a:latin typeface="Calibri"/>
              </a:defRPr>
            </a:pPr>
            <a:r>
              <a:t>• Projet professionnel &amp; réflexion éthique sur l'IA</a:t>
            </a:r>
          </a:p>
          <a:p>
            <a:pPr>
              <a:spcAft>
                <a:spcPts val="500"/>
              </a:spcAft>
              <a:defRPr sz="1100">
                <a:solidFill>
                  <a:srgbClr val="2C3531"/>
                </a:solidFill>
                <a:latin typeface="Calibri"/>
              </a:defRPr>
            </a:pPr>
            <a:r>
              <a:t>• Remerciements &amp; place aux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6E8276"/>
                </a:solidFill>
                <a:latin typeface="Trebuchet MS"/>
              </a:defRPr>
            </a:pPr>
            <a:r>
              <a:t>PARTIE 1 : INTRODUCTION &amp; 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354E43"/>
                </a:solidFill>
                <a:latin typeface="Trebuchet MS"/>
              </a:defRPr>
            </a:pPr>
            <a:r>
              <a:t>Introduction et Contexte du Stage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905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 i="0">
                <a:solidFill>
                  <a:srgbClr val="6E8276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3108960" cy="38100"/>
          </a:xfrm>
          <a:prstGeom prst="rect">
            <a:avLst/>
          </a:prstGeom>
          <a:solidFill>
            <a:srgbClr val="35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2C3531"/>
                </a:solidFill>
                <a:latin typeface="Trebuchet MS"/>
              </a:defRPr>
            </a:pPr>
            <a:r>
              <a:t>P.1 : Introduction &amp; Contexte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P.2 : Réalisations Techniques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P.3 :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512064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354E43"/>
                </a:solidFill>
                <a:latin typeface="Trebuchet MS"/>
              </a:defRPr>
            </a:pPr>
            <a:r>
              <a:t>L'Hôte : Robert Gordon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86000"/>
            <a:ext cx="45720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C3531"/>
                </a:solidFill>
                <a:latin typeface="Calibri"/>
              </a:defRPr>
            </a:pPr>
            <a:r>
              <a:t>• School of Computing Science and Digital Media à Aberdeen (Écosse).</a:t>
            </a:r>
          </a:p>
          <a:p>
            <a:pPr>
              <a:spcAft>
                <a:spcPts val="500"/>
              </a:spcAft>
              <a:defRPr sz="1300">
                <a:solidFill>
                  <a:srgbClr val="2C3531"/>
                </a:solidFill>
                <a:latin typeface="Calibri"/>
              </a:defRPr>
            </a:pPr>
            <a:r>
              <a:t>• Pôle de recherche académique sur l'analyse des médias numériques, la classification et le traitement du langage naturel (NLP).</a:t>
            </a:r>
          </a:p>
          <a:p>
            <a:pPr>
              <a:spcAft>
                <a:spcPts val="500"/>
              </a:spcAft>
              <a:defRPr sz="1300">
                <a:solidFill>
                  <a:srgbClr val="2C3531"/>
                </a:solidFill>
                <a:latin typeface="Calibri"/>
              </a:defRPr>
            </a:pPr>
            <a:r>
              <a:t>• Cadre de travail : Collaboration sous la supervision de Dr. Shahana Bano et M. Jonathan Paris.</a:t>
            </a:r>
          </a:p>
          <a:p>
            <a:pPr>
              <a:spcAft>
                <a:spcPts val="500"/>
              </a:spcAft>
              <a:defRPr sz="1300">
                <a:solidFill>
                  <a:srgbClr val="2C3531"/>
                </a:solidFill>
                <a:latin typeface="Calibri"/>
              </a:defRPr>
            </a:pPr>
            <a:r>
              <a:t>• Environnement propice à l'expérimentation de modèles de Deep Learning avancés dans un but d'intérêt sociétal.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354E43"/>
                </a:solidFill>
                <a:latin typeface="Trebuchet MS"/>
              </a:defRPr>
            </a:pPr>
            <a:r>
              <a:t>La Problématique Sociale en Ligne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9456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200" b="1" i="0">
                <a:solidFill>
                  <a:srgbClr val="D37F63"/>
                </a:solidFill>
                <a:latin typeface="Trebuchet MS"/>
              </a:defRPr>
            </a:pPr>
            <a:r>
              <a:t>+150%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4688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2C3531"/>
                </a:solidFill>
                <a:latin typeface="Calibri"/>
              </a:defRPr>
            </a:pPr>
            <a:r>
              <a:t>de commentaires lors de la Ligue des Champions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91840"/>
            <a:ext cx="45720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C3531"/>
                </a:solidFill>
                <a:latin typeface="Calibri"/>
              </a:defRPr>
            </a:pPr>
            <a:r>
              <a:t>• Les réseaux sociaux sont submergés de commentaires pendant les matchs à enjeux.</a:t>
            </a:r>
          </a:p>
          <a:p>
            <a:pPr>
              <a:spcAft>
                <a:spcPts val="500"/>
              </a:spcAft>
              <a:defRPr sz="1300">
                <a:solidFill>
                  <a:srgbClr val="2C3531"/>
                </a:solidFill>
                <a:latin typeface="Calibri"/>
              </a:defRPr>
            </a:pPr>
            <a:r>
              <a:t>• Échec de la modération automatique classique : incapable d'interpréter l'argot footballistique complexe et subtil des supporters.</a:t>
            </a:r>
          </a:p>
          <a:p>
            <a:pPr>
              <a:spcAft>
                <a:spcPts val="500"/>
              </a:spcAft>
              <a:defRPr sz="1300">
                <a:solidFill>
                  <a:srgbClr val="2C3531"/>
                </a:solidFill>
                <a:latin typeface="Calibri"/>
              </a:defRPr>
            </a:pPr>
            <a:r>
              <a:t>• Risque : Escalade rapide des tensions en ligne menant à de la toxicité sévère hors-ligne.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6E8276"/>
                </a:solidFill>
                <a:latin typeface="Trebuchet MS"/>
              </a:defRPr>
            </a:pPr>
            <a:r>
              <a:t>PARTIE 1 : INTRODUCTION &amp; 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354E43"/>
                </a:solidFill>
                <a:latin typeface="Trebuchet MS"/>
              </a:defRPr>
            </a:pPr>
            <a:r>
              <a:t>Problématique et Objectifs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905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 i="0">
                <a:solidFill>
                  <a:srgbClr val="6E8276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3108960" cy="38100"/>
          </a:xfrm>
          <a:prstGeom prst="rect">
            <a:avLst/>
          </a:prstGeom>
          <a:solidFill>
            <a:srgbClr val="35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2C3531"/>
                </a:solidFill>
                <a:latin typeface="Trebuchet MS"/>
              </a:defRPr>
            </a:pPr>
            <a:r>
              <a:t>P.1 : Introduction &amp; Contexte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P.2 : Réalisations Techniques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P.3 :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10725912" cy="1280160"/>
          </a:xfrm>
          <a:prstGeom prst="roundRect">
            <a:avLst>
              <a:gd name="adj" fmla="val 3000"/>
            </a:avLst>
          </a:prstGeom>
          <a:solidFill>
            <a:srgbClr val="EBF0ED"/>
          </a:solidFill>
          <a:ln w="19050">
            <a:solidFill>
              <a:srgbClr val="6E8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1828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354E43"/>
                </a:solidFill>
                <a:latin typeface="Trebuchet MS"/>
              </a:defRPr>
            </a:pPr>
            <a:r>
              <a:t>QUESTION CENTRALE (PROBLÉMATIQUE)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10312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1">
                <a:solidFill>
                  <a:srgbClr val="2C3531"/>
                </a:solidFill>
                <a:latin typeface="Trebuchet MS"/>
              </a:defRPr>
            </a:pPr>
            <a:r>
              <a:t>Comment concevoir un pipeline logiciel modulaire (spaCy + Deep Learning) pour détecter et analyser la polarisation linguistique et la toxicité avant l'escalade des tensions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354E43"/>
                </a:solidFill>
                <a:latin typeface="Trebuchet MS"/>
              </a:defRPr>
            </a:pPr>
            <a:r>
              <a:t>Chronologie Synthétique des 10 Semaines de Stage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023360"/>
            <a:ext cx="960120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28800" y="3931920"/>
            <a:ext cx="274320" cy="274320"/>
          </a:xfrm>
          <a:prstGeom prst="ellipse">
            <a:avLst/>
          </a:prstGeom>
          <a:solidFill>
            <a:srgbClr val="35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354E43"/>
                </a:solidFill>
                <a:latin typeface="Trebuchet MS"/>
              </a:defRPr>
            </a:pPr>
            <a:r>
              <a:t>Semaines 1 - 3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2C3531"/>
                </a:solidFill>
                <a:latin typeface="Trebuchet MS"/>
              </a:defRPr>
            </a:pPr>
            <a:r>
              <a:t>Spécifications &amp; 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 i="0">
                <a:solidFill>
                  <a:srgbClr val="2C3531"/>
                </a:solidFill>
                <a:latin typeface="Calibri"/>
              </a:defRPr>
            </a:pPr>
            <a:r>
              <a:t>Collecte multiplateforme (Twitter, TikTok, Instagram, Reddit). Nettoyage de données.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3931920"/>
            <a:ext cx="274320" cy="274320"/>
          </a:xfrm>
          <a:prstGeom prst="ellipse">
            <a:avLst/>
          </a:prstGeom>
          <a:solidFill>
            <a:srgbClr val="6E8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0" y="42976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6E8276"/>
                </a:solidFill>
                <a:latin typeface="Trebuchet MS"/>
              </a:defRPr>
            </a:pPr>
            <a:r>
              <a:t>Semaines 4 - 6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5720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2C3531"/>
                </a:solidFill>
                <a:latin typeface="Trebuchet MS"/>
              </a:defRPr>
            </a:pPr>
            <a:r>
              <a:t>Développement NLP /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89204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 i="0">
                <a:solidFill>
                  <a:srgbClr val="2C3531"/>
                </a:solidFill>
                <a:latin typeface="Calibri"/>
              </a:defRPr>
            </a:pPr>
            <a:r>
              <a:t>Parser de polarisation avec spaCy. Intégration de Toxic-BERT et scoring des messages.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0" y="3931920"/>
            <a:ext cx="274320" cy="274320"/>
          </a:xfrm>
          <a:prstGeom prst="ellipse">
            <a:avLst/>
          </a:prstGeom>
          <a:solidFill>
            <a:srgbClr val="D37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42976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D37F63"/>
                </a:solidFill>
                <a:latin typeface="Trebuchet MS"/>
              </a:defRPr>
            </a:pPr>
            <a:r>
              <a:t>Semaines 7 - 8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720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2C3531"/>
                </a:solidFill>
                <a:latin typeface="Trebuchet MS"/>
              </a:defRPr>
            </a:pPr>
            <a:r>
              <a:t>Assistant RAG &amp; Causalité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9204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 i="0">
                <a:solidFill>
                  <a:srgbClr val="2C3531"/>
                </a:solidFill>
                <a:latin typeface="Calibri"/>
              </a:defRPr>
            </a:pPr>
            <a:r>
              <a:t>Mise en place de l'assistant décisionnel RAG Streamlit. Détection des spikes temporels.</a:t>
            </a:r>
          </a:p>
        </p:txBody>
      </p:sp>
      <p:sp>
        <p:nvSpPr>
          <p:cNvPr id="29" name="Oval 28"/>
          <p:cNvSpPr/>
          <p:nvPr/>
        </p:nvSpPr>
        <p:spPr>
          <a:xfrm>
            <a:off x="10058400" y="3931920"/>
            <a:ext cx="274320" cy="274320"/>
          </a:xfrm>
          <a:prstGeom prst="ellipse">
            <a:avLst/>
          </a:prstGeom>
          <a:solidFill>
            <a:srgbClr val="2C3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0" y="42976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2C3531"/>
                </a:solidFill>
                <a:latin typeface="Trebuchet MS"/>
              </a:defRPr>
            </a:pPr>
            <a:r>
              <a:t>Semaines 9 - 10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5720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2C3531"/>
                </a:solidFill>
                <a:latin typeface="Trebuchet MS"/>
              </a:defRPr>
            </a:pPr>
            <a:r>
              <a:t>Audit, Éthique &amp; Livraison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89204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 i="0">
                <a:solidFill>
                  <a:srgbClr val="2C3531"/>
                </a:solidFill>
                <a:latin typeface="Calibri"/>
              </a:defRPr>
            </a:pPr>
            <a:r>
              <a:t>Audit de fairness des modèles. Analyse de causalité. Restitution finale au laboratoire.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6E8276"/>
                </a:solidFill>
                <a:latin typeface="Trebuchet MS"/>
              </a:defRPr>
            </a:pPr>
            <a:r>
              <a:t>PARTIE 2 : RÉALISATIONS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354E43"/>
                </a:solidFill>
                <a:latin typeface="Trebuchet MS"/>
              </a:defRPr>
            </a:pPr>
            <a:r>
              <a:t>Solutions Envisagées et Choix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905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 i="0">
                <a:solidFill>
                  <a:srgbClr val="6E8276"/>
                </a:solidFill>
                <a:latin typeface="Trebuchet MS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P.1 : Introduction &amp; Contexte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6446520"/>
            <a:ext cx="3108960" cy="38100"/>
          </a:xfrm>
          <a:prstGeom prst="rect">
            <a:avLst/>
          </a:prstGeom>
          <a:solidFill>
            <a:srgbClr val="35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2C3531"/>
                </a:solidFill>
                <a:latin typeface="Trebuchet MS"/>
              </a:defRPr>
            </a:pPr>
            <a:r>
              <a:t>P.2 : Réalisations Techniques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P.3 :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512064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354E43"/>
                </a:solidFill>
                <a:latin typeface="Trebuchet MS"/>
              </a:defRPr>
            </a:pPr>
            <a:r>
              <a:t>Détection de la Polarisation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86000"/>
            <a:ext cx="45720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C3531"/>
                </a:solidFill>
                <a:latin typeface="Calibri"/>
              </a:defRPr>
            </a:pPr>
            <a:r>
              <a:t>• Option A : Dictionnaires de mots simples (lexiques statiques).</a:t>
            </a:r>
            <a:br/>
            <a:r>
              <a:t>  → Inconvénient : Rate la structure sémantique et syntaxique.</a:t>
            </a:r>
          </a:p>
          <a:p>
            <a:pPr>
              <a:spcAft>
                <a:spcPts val="500"/>
              </a:spcAft>
              <a:defRPr sz="1200">
                <a:solidFill>
                  <a:srgbClr val="2C3531"/>
                </a:solidFill>
                <a:latin typeface="Calibri"/>
              </a:defRPr>
            </a:pPr>
            <a:r>
              <a:t>• Option B (Retenue) : Analyse syntaxique dépendante avec spaCy.</a:t>
            </a:r>
            <a:br/>
            <a:r>
              <a:t>  → Avantage : Analyse des relations de dépendance grammaticale des pronoms de groupes (In-group 'We' vs Out-group 'Them').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512064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354E43"/>
                </a:solidFill>
                <a:latin typeface="Trebuchet MS"/>
              </a:defRPr>
            </a:pPr>
            <a:r>
              <a:t>Classification de la Toxicité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86000"/>
            <a:ext cx="45720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C3531"/>
                </a:solidFill>
                <a:latin typeface="Calibri"/>
              </a:defRPr>
            </a:pPr>
            <a:r>
              <a:t>• Option A : Algorithmes ML classiques (TF-IDF + SVM/LogReg).</a:t>
            </a:r>
            <a:br/>
            <a:r>
              <a:t>  → Inconvénient : Faible compréhension du contexte / sarcasme.</a:t>
            </a:r>
          </a:p>
          <a:p>
            <a:pPr>
              <a:spcAft>
                <a:spcPts val="500"/>
              </a:spcAft>
              <a:defRPr sz="1200">
                <a:solidFill>
                  <a:srgbClr val="2C3531"/>
                </a:solidFill>
                <a:latin typeface="Calibri"/>
              </a:defRPr>
            </a:pPr>
            <a:r>
              <a:t>• Option B (Retenue) : Modèle Transformer finetuné (Toxic-BERT).</a:t>
            </a:r>
            <a:br/>
            <a:r>
              <a:t>  → Avantage : Compréhension contextuelle fine, capture des nuances d'agressivité et de toxicité implicite.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10725912" cy="1005840"/>
          </a:xfrm>
          <a:prstGeom prst="roundRect">
            <a:avLst>
              <a:gd name="adj" fmla="val 3000"/>
            </a:avLst>
          </a:prstGeom>
          <a:solidFill>
            <a:srgbClr val="EBF0ED"/>
          </a:solidFill>
          <a:ln w="12700">
            <a:solidFill>
              <a:srgbClr val="6E8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101772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354E43"/>
                </a:solidFill>
                <a:latin typeface="Trebuchet MS"/>
              </a:defRPr>
            </a:pPr>
            <a:r>
              <a:t>JUSTIFICATION DE L'ARCHITECTURE FINALE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03520"/>
            <a:ext cx="1017727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50" b="0" i="1">
                <a:solidFill>
                  <a:srgbClr val="2C3531"/>
                </a:solidFill>
                <a:latin typeface="Calibri"/>
              </a:defRPr>
            </a:pPr>
            <a:r>
              <a:t>Couplage de Python 3.10, spaCy (en_core_web_sm) pour la rapidité d'analyse grammaticale, et Toxic-BERT pour le scoring de toxicité précis. Solution hautement performante et exécutable en temps quasi-réel.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6E8276"/>
                </a:solidFill>
                <a:latin typeface="Trebuchet MS"/>
              </a:defRPr>
            </a:pPr>
            <a:r>
              <a:t>PARTIE 2 : RÉALISATIONS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354E43"/>
                </a:solidFill>
                <a:latin typeface="Trebuchet MS"/>
              </a:defRPr>
            </a:pPr>
            <a:r>
              <a:t>L'Architecture Modulaire du Pipeline (SOLID)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905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 i="0">
                <a:solidFill>
                  <a:srgbClr val="6E8276"/>
                </a:solidFill>
                <a:latin typeface="Trebuchet MS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P.1 : Introduction &amp; Contexte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6446520"/>
            <a:ext cx="3108960" cy="38100"/>
          </a:xfrm>
          <a:prstGeom prst="rect">
            <a:avLst/>
          </a:prstGeom>
          <a:solidFill>
            <a:srgbClr val="35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2C3531"/>
                </a:solidFill>
                <a:latin typeface="Trebuchet MS"/>
              </a:defRPr>
            </a:pPr>
            <a:r>
              <a:t>P.2 : Réalisations Techniques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P.3 :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2926080" cy="731520"/>
          </a:xfrm>
          <a:prstGeom prst="roundRect">
            <a:avLst>
              <a:gd name="adj" fmla="val 3000"/>
            </a:avLst>
          </a:prstGeom>
          <a:solidFill>
            <a:srgbClr val="35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18288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Trebuchet MS"/>
              </a:defRPr>
            </a:pPr>
            <a:r>
              <a:t>1. Couche d'Ingestion &amp; Nettoyage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103120" y="2377440"/>
            <a:ext cx="182880" cy="137160"/>
          </a:xfrm>
          <a:prstGeom prst="downArrow">
            <a:avLst/>
          </a:prstGeom>
          <a:solidFill>
            <a:srgbClr val="6E8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840480" y="1645920"/>
            <a:ext cx="62179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23360" y="182880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2C3531"/>
                </a:solidFill>
                <a:latin typeface="Calibri"/>
              </a:defRPr>
            </a:pPr>
            <a:r>
              <a:t>Normalise les flux (Twitter, TikTok, Instagram, Reddit CSV). Nettoyage regex (URLs, espaces).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14600"/>
            <a:ext cx="2926080" cy="731520"/>
          </a:xfrm>
          <a:prstGeom prst="roundRect">
            <a:avLst>
              <a:gd name="adj" fmla="val 3000"/>
            </a:avLst>
          </a:prstGeom>
          <a:solidFill>
            <a:srgbClr val="6E8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26974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Trebuchet MS"/>
              </a:defRPr>
            </a:pPr>
            <a:r>
              <a:t>2. Couche de Parsing Grammatical (NLP)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103120" y="3246120"/>
            <a:ext cx="182880" cy="137160"/>
          </a:xfrm>
          <a:prstGeom prst="downArrow">
            <a:avLst/>
          </a:prstGeom>
          <a:solidFill>
            <a:srgbClr val="6E8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840480" y="2514600"/>
            <a:ext cx="62179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23360" y="269748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2C3531"/>
                </a:solidFill>
                <a:latin typeface="Calibri"/>
              </a:defRPr>
            </a:pPr>
            <a:r>
              <a:t>Modélise le texte avec spaCy. Calcule l'indice grammatical de polarisation (We vs Them).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383280"/>
            <a:ext cx="2926080" cy="731520"/>
          </a:xfrm>
          <a:prstGeom prst="roundRect">
            <a:avLst>
              <a:gd name="adj" fmla="val 3000"/>
            </a:avLst>
          </a:prstGeom>
          <a:solidFill>
            <a:srgbClr val="D37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5661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Trebuchet MS"/>
              </a:defRPr>
            </a:pPr>
            <a:r>
              <a:t>3. Couche de Classification IA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103120" y="4114800"/>
            <a:ext cx="182880" cy="137160"/>
          </a:xfrm>
          <a:prstGeom prst="downArrow">
            <a:avLst/>
          </a:prstGeom>
          <a:solidFill>
            <a:srgbClr val="6E8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840480" y="3383280"/>
            <a:ext cx="62179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23360" y="356616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2C3531"/>
                </a:solidFill>
                <a:latin typeface="Calibri"/>
              </a:defRPr>
            </a:pPr>
            <a:r>
              <a:t>Infère le score de toxicité avec Toxic-BERT et extrait le sentiment (Positif, Neutre, Négatif).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251960"/>
            <a:ext cx="2926080" cy="731520"/>
          </a:xfrm>
          <a:prstGeom prst="roundRect">
            <a:avLst>
              <a:gd name="adj" fmla="val 3000"/>
            </a:avLst>
          </a:prstGeom>
          <a:solidFill>
            <a:srgbClr val="2C3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4348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Trebuchet MS"/>
              </a:defRPr>
            </a:pPr>
            <a:r>
              <a:t>4. Couche d'Explicabilité (XAI)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2103120" y="4983480"/>
            <a:ext cx="182880" cy="137160"/>
          </a:xfrm>
          <a:prstGeom prst="downArrow">
            <a:avLst/>
          </a:prstGeom>
          <a:solidFill>
            <a:srgbClr val="6E8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840480" y="4251960"/>
            <a:ext cx="62179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23360" y="443484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2C3531"/>
                </a:solidFill>
                <a:latin typeface="Calibri"/>
              </a:defRPr>
            </a:pPr>
            <a:r>
              <a:t>Génère des explications locales des mots-clés influents via LIME et SHAP perturbation-based.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120640"/>
            <a:ext cx="2926080" cy="731520"/>
          </a:xfrm>
          <a:prstGeom prst="roundRect">
            <a:avLst>
              <a:gd name="adj" fmla="val 3000"/>
            </a:avLst>
          </a:prstGeom>
          <a:solidFill>
            <a:srgbClr val="35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3035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Trebuchet MS"/>
              </a:defRPr>
            </a:pPr>
            <a:r>
              <a:t>5. Couche Interface &amp; Agent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0" y="5120640"/>
            <a:ext cx="62179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23360" y="530352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2C3531"/>
                </a:solidFill>
                <a:latin typeface="Calibri"/>
              </a:defRPr>
            </a:pPr>
            <a:r>
              <a:t>Présente le Dashboard Streamlit et l'assistant RAG décisionnel (Qwen2.5 + FAISS index).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0" y="1645920"/>
            <a:ext cx="12161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37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32720" y="1828800"/>
            <a:ext cx="103327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 i="0">
                <a:solidFill>
                  <a:srgbClr val="D37F63"/>
                </a:solidFill>
                <a:latin typeface="Trebuchet MS"/>
              </a:defRPr>
            </a:pPr>
            <a:r>
              <a:t>PRINCIPES</a:t>
            </a:r>
            <a:br/>
            <a:r>
              <a:t>SOLID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2377440"/>
            <a:ext cx="1033271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950" b="0" i="0">
                <a:solidFill>
                  <a:srgbClr val="2C3531"/>
                </a:solidFill>
                <a:latin typeface="Calibri"/>
              </a:defRPr>
            </a:pPr>
            <a:r>
              <a:t>• SRP : Un fichier = une tâche.</a:t>
            </a:r>
          </a:p>
          <a:p>
            <a:pPr>
              <a:spcAft>
                <a:spcPts val="500"/>
              </a:spcAft>
              <a:defRPr sz="950">
                <a:solidFill>
                  <a:srgbClr val="2C3531"/>
                </a:solidFill>
                <a:latin typeface="Calibri"/>
              </a:defRPr>
            </a:pPr>
            <a:r>
              <a:t>• OCP : Facile d'ajouter un modèle.</a:t>
            </a:r>
          </a:p>
          <a:p>
            <a:pPr>
              <a:spcAft>
                <a:spcPts val="500"/>
              </a:spcAft>
              <a:defRPr sz="950">
                <a:solidFill>
                  <a:srgbClr val="2C3531"/>
                </a:solidFill>
                <a:latin typeface="Calibri"/>
              </a:defRPr>
            </a:pPr>
            <a:r>
              <a:t>• DIP : RAG abstrait de l'LLM.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6E8276"/>
                </a:solidFill>
                <a:latin typeface="Trebuchet MS"/>
              </a:defRPr>
            </a:pPr>
            <a:r>
              <a:t>PARTIE 2 : RÉALISATIONS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354E43"/>
                </a:solidFill>
                <a:latin typeface="Trebuchet MS"/>
              </a:defRPr>
            </a:pPr>
            <a:r>
              <a:t>Détection Linguistique et Mécanismes de Sécurité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905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 i="0">
                <a:solidFill>
                  <a:srgbClr val="6E8276"/>
                </a:solidFill>
                <a:latin typeface="Trebuchet MS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P.1 : Introduction &amp; Contexte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6446520"/>
            <a:ext cx="3108960" cy="38100"/>
          </a:xfrm>
          <a:prstGeom prst="rect">
            <a:avLst/>
          </a:prstGeom>
          <a:solidFill>
            <a:srgbClr val="35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2C3531"/>
                </a:solidFill>
                <a:latin typeface="Trebuchet MS"/>
              </a:defRPr>
            </a:pPr>
            <a:r>
              <a:t>P.2 : Réalisations Techniques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P.3 :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10725912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828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354E43"/>
                </a:solidFill>
                <a:latin typeface="Trebuchet MS"/>
              </a:defRPr>
            </a:pPr>
            <a:r>
              <a:t>1. PARSER SYNTAXIQUE : FORMULE LOGIQUE DE LA POLARISATION P(c)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194560"/>
            <a:ext cx="10177272" cy="548640"/>
          </a:xfrm>
          <a:prstGeom prst="roundRect">
            <a:avLst>
              <a:gd name="adj" fmla="val 3000"/>
            </a:avLst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331720"/>
            <a:ext cx="101772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50" b="1" i="0">
                <a:solidFill>
                  <a:srgbClr val="354E43"/>
                </a:solidFill>
                <a:latin typeface="Courier New"/>
              </a:defRPr>
            </a:pPr>
            <a:r>
              <a:t>P(c) = (Us &gt; 0  AND  Them &gt; 0)  OR  ((Us &gt; 0  OR  Them &gt; 0)  AND  (Intensifier &gt; 0  OR  Negation &gt; 0))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346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C3531"/>
                </a:solidFill>
                <a:latin typeface="Calibri"/>
              </a:defRPr>
            </a:pPr>
            <a:r>
              <a:t>• Us : Pronoms de cohésion interne ('we', 'us', 'our').  |  Them : Pronoms d'altérité ('they', 'them', 'their').</a:t>
            </a:r>
          </a:p>
          <a:p>
            <a:pPr>
              <a:spcAft>
                <a:spcPts val="500"/>
              </a:spcAft>
              <a:defRPr sz="1100">
                <a:solidFill>
                  <a:srgbClr val="2C3531"/>
                </a:solidFill>
                <a:latin typeface="Calibri"/>
              </a:defRPr>
            </a:pPr>
            <a:r>
              <a:t>• Intensificateurs : Adverbes renforçant le propos ('very', 'extremely', 'completely') détectés via POS tagging.</a:t>
            </a:r>
          </a:p>
          <a:p>
            <a:pPr>
              <a:spcAft>
                <a:spcPts val="500"/>
              </a:spcAft>
              <a:defRPr sz="1100">
                <a:solidFill>
                  <a:srgbClr val="2C3531"/>
                </a:solidFill>
                <a:latin typeface="Calibri"/>
              </a:defRPr>
            </a:pPr>
            <a:r>
              <a:t>• Négation : Liaisons de dépendance de type 'neg' extraites directement de l'arbre syntaxique de spaCy.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10725912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37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D37F63"/>
                </a:solidFill>
                <a:latin typeface="Trebuchet MS"/>
              </a:defRPr>
            </a:pPr>
            <a:r>
              <a:t>2. PROTECTION IMMÉDIATE : SAFETYGUARDRAIL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C3531"/>
                </a:solidFill>
                <a:latin typeface="Calibri"/>
              </a:defRPr>
            </a:pPr>
            <a:r>
              <a:t>• Principe : Intercepter les insultes explicites graves en amont de l'évaluation par modèle IA.</a:t>
            </a:r>
          </a:p>
          <a:p>
            <a:pPr>
              <a:spcAft>
                <a:spcPts val="500"/>
              </a:spcAft>
              <a:defRPr sz="1200">
                <a:solidFill>
                  <a:srgbClr val="2C3531"/>
                </a:solidFill>
                <a:latin typeface="Calibri"/>
              </a:defRPr>
            </a:pPr>
            <a:r>
              <a:t>• Implémentation : Système de Regex optimisé basé sur un dictionnaire d'insultes sévères.</a:t>
            </a:r>
          </a:p>
          <a:p>
            <a:pPr>
              <a:spcAft>
                <a:spcPts val="500"/>
              </a:spcAft>
              <a:defRPr sz="1200">
                <a:solidFill>
                  <a:srgbClr val="2C3531"/>
                </a:solidFill>
                <a:latin typeface="Calibri"/>
              </a:defRPr>
            </a:pPr>
            <a:r>
              <a:t>• Bénéfices : Zéro latence pour le filtrage immédiat (CPU-bound) et réduction drastique de la charge de calcul sur les Transformers.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6E8276"/>
                </a:solidFill>
                <a:latin typeface="Trebuchet MS"/>
              </a:defRPr>
            </a:pPr>
            <a:r>
              <a:t>PARTIE 2 : RÉALISATIONS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354E43"/>
                </a:solidFill>
                <a:latin typeface="Trebuchet MS"/>
              </a:defRPr>
            </a:pPr>
            <a:r>
              <a:t>Difficulté : Audit d'Équité Algorithmique (Fairness)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905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 i="0">
                <a:solidFill>
                  <a:srgbClr val="6E8276"/>
                </a:solidFill>
                <a:latin typeface="Trebuchet MS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P.1 : Introduction &amp; Contexte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6446520"/>
            <a:ext cx="3108960" cy="38100"/>
          </a:xfrm>
          <a:prstGeom prst="rect">
            <a:avLst/>
          </a:prstGeom>
          <a:solidFill>
            <a:srgbClr val="35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2C3531"/>
                </a:solidFill>
                <a:latin typeface="Trebuchet MS"/>
              </a:defRPr>
            </a:pPr>
            <a:r>
              <a:t>P.2 : Réalisations Techniques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P.3 :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512064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37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D37F63"/>
                </a:solidFill>
                <a:latin typeface="Trebuchet MS"/>
              </a:defRPr>
            </a:pPr>
            <a:r>
              <a:t>La Difficulté : Biais Multiformes des Modèles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8600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600" b="1" i="0">
                <a:solidFill>
                  <a:srgbClr val="D37F63"/>
                </a:solidFill>
                <a:latin typeface="Trebuchet MS"/>
              </a:defRPr>
            </a:pPr>
            <a:r>
              <a:t>12.58%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4688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2C3531"/>
                </a:solidFill>
                <a:latin typeface="Calibri"/>
              </a:defRPr>
            </a:pPr>
            <a:r>
              <a:t>Faux Positifs sur Reddit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0896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600" b="1" i="0">
                <a:solidFill>
                  <a:srgbClr val="D37F63"/>
                </a:solidFill>
                <a:latin typeface="Trebuchet MS"/>
              </a:defRPr>
            </a:pPr>
            <a:r>
              <a:t>~0%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2918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2C3531"/>
                </a:solidFill>
                <a:latin typeface="Calibri"/>
              </a:defRPr>
            </a:pPr>
            <a:r>
              <a:t>Détection de l'Argot TikTok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C3531"/>
                </a:solidFill>
                <a:latin typeface="Calibri"/>
              </a:defRPr>
            </a:pPr>
            <a:r>
              <a:t>• Les longs débats analytiques sur Reddit déclenchaient de fausses alertes à cause de la récurrence de mots polarisés.</a:t>
            </a:r>
          </a:p>
          <a:p>
            <a:pPr>
              <a:spcAft>
                <a:spcPts val="500"/>
              </a:spcAft>
              <a:defRPr sz="1200">
                <a:solidFill>
                  <a:srgbClr val="2C3531"/>
                </a:solidFill>
                <a:latin typeface="Calibri"/>
              </a:defRPr>
            </a:pPr>
            <a:r>
              <a:t>• Le modèle ne détectait aucun abus sur TikTok en raison de l'utilisation massive d'argot adolescent, d'émojis et d'anglicismes.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354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354E43"/>
                </a:solidFill>
                <a:latin typeface="Trebuchet MS"/>
              </a:defRPr>
            </a:pPr>
            <a:r>
              <a:t>La Solution : Ajustement &amp; Alignement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377440"/>
            <a:ext cx="45720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2C3531"/>
                </a:solidFill>
                <a:latin typeface="Calibri"/>
              </a:defRPr>
            </a:pPr>
            <a:r>
              <a:t>• Identification du biais : Le dataset d'entraînement de Toxic-BERT (textes formels Wikipédia) diffère radicalement de l'argot dynamique des réseaux.</a:t>
            </a:r>
          </a:p>
          <a:p>
            <a:pPr>
              <a:spcAft>
                <a:spcPts val="500"/>
              </a:spcAft>
              <a:defRPr sz="1150">
                <a:solidFill>
                  <a:srgbClr val="2C3531"/>
                </a:solidFill>
                <a:latin typeface="Calibri"/>
              </a:defRPr>
            </a:pPr>
            <a:r>
              <a:t>• Ajustement dynamique des seuils : Optimisation des seuils de toxicité par plateforme (ex. seuil plus bas pour TikTok, plus élevé pour Reddit).</a:t>
            </a:r>
          </a:p>
          <a:p>
            <a:pPr>
              <a:spcAft>
                <a:spcPts val="500"/>
              </a:spcAft>
              <a:defRPr sz="1150">
                <a:solidFill>
                  <a:srgbClr val="2C3531"/>
                </a:solidFill>
                <a:latin typeface="Calibri"/>
              </a:defRPr>
            </a:pPr>
            <a:r>
              <a:t>• Normalisation sémantique : Remplacement textuel des émojis hostiles récurrents en amont.</a:t>
            </a:r>
          </a:p>
          <a:p>
            <a:pPr>
              <a:spcAft>
                <a:spcPts val="500"/>
              </a:spcAft>
              <a:defRPr sz="1150">
                <a:solidFill>
                  <a:srgbClr val="2C3531"/>
                </a:solidFill>
                <a:latin typeface="Calibri"/>
              </a:defRPr>
            </a:pPr>
            <a:r>
              <a:t>• Prise de recul : Nécessité d'auditer l'équité (Equalized Odds Disparity) pour éviter la censure abusive ou les angles morts.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6E8276"/>
                </a:solidFill>
                <a:latin typeface="Trebuchet MS"/>
              </a:defRPr>
            </a:pPr>
            <a:r>
              <a:t>PARTIE 2 : RÉALISATIONS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354E43"/>
                </a:solidFill>
                <a:latin typeface="Trebuchet MS"/>
              </a:defRPr>
            </a:pPr>
            <a:r>
              <a:t>Analyse Temporelle et Causalité de la Polarisation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905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 i="0">
                <a:solidFill>
                  <a:srgbClr val="6E8276"/>
                </a:solidFill>
                <a:latin typeface="Trebuchet MS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P.1 : Introduction &amp; Contexte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6446520"/>
            <a:ext cx="3108960" cy="38100"/>
          </a:xfrm>
          <a:prstGeom prst="rect">
            <a:avLst/>
          </a:prstGeom>
          <a:solidFill>
            <a:srgbClr val="35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2C3531"/>
                </a:solidFill>
                <a:latin typeface="Trebuchet MS"/>
              </a:defRPr>
            </a:pPr>
            <a:r>
              <a:t>P.2 : Réalisations Techniques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P.3 :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411480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D37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6E8276"/>
                </a:solidFill>
                <a:latin typeface="Trebuchet MS"/>
              </a:defRPr>
            </a:pPr>
            <a:r>
              <a:t>CORRÉLATION DE PEARSON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68880"/>
            <a:ext cx="39319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200" b="1" i="0">
                <a:solidFill>
                  <a:srgbClr val="D37F63"/>
                </a:solidFill>
                <a:latin typeface="Trebuchet MS"/>
              </a:defRPr>
            </a:pPr>
            <a:r>
              <a:t>r = 0.74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35661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0" i="1">
                <a:solidFill>
                  <a:srgbClr val="2C3531"/>
                </a:solidFill>
                <a:latin typeface="Trebuchet MS"/>
              </a:defRPr>
            </a:pPr>
            <a:r>
              <a:t>Corrélation forte établie entre la montée de la polarisation en ligne et les signalements d'incidents réels aux abords des stades.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0952" y="1645920"/>
            <a:ext cx="612648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05272" y="182880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354E43"/>
                </a:solidFill>
                <a:latin typeface="Trebuchet MS"/>
              </a:defRPr>
            </a:pPr>
            <a:r>
              <a:t>Le Pipeline comme Outil Décisionnel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5272" y="2377440"/>
            <a:ext cx="55778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2C3531"/>
                </a:solidFill>
                <a:latin typeface="Calibri"/>
              </a:defRPr>
            </a:pPr>
            <a:r>
              <a:t>• Détection des spikes d'activité : Identification automatique des dates d'anomalies de volume à plus de 1.5 écart-type de la moyenne mobile (rolling mean).</a:t>
            </a:r>
          </a:p>
          <a:p>
            <a:pPr>
              <a:spcAft>
                <a:spcPts val="500"/>
              </a:spcAft>
              <a:defRPr sz="1150">
                <a:solidFill>
                  <a:srgbClr val="2C3531"/>
                </a:solidFill>
                <a:latin typeface="Calibri"/>
              </a:defRPr>
            </a:pPr>
            <a:r>
              <a:t>• Mapping automatique d'événements : Corrélation automatique des pics avec le calendrier des matchs (PSG-Barça, Real Madrid, etc.) ou via analyse fréquentielle de secours.</a:t>
            </a:r>
          </a:p>
          <a:p>
            <a:pPr>
              <a:spcAft>
                <a:spcPts val="500"/>
              </a:spcAft>
              <a:defRPr sz="1150">
                <a:solidFill>
                  <a:srgbClr val="2C3531"/>
                </a:solidFill>
                <a:latin typeface="Calibri"/>
              </a:defRPr>
            </a:pPr>
            <a:r>
              <a:t>• Causalité : L'événement réel déclenche le pic d'activité, qui s'accompagne d'une poussée massive de l'in-group bias ('Nous') et d'agressivité envers l'out-group ('Eux').</a:t>
            </a:r>
          </a:p>
          <a:p>
            <a:pPr>
              <a:spcAft>
                <a:spcPts val="500"/>
              </a:spcAft>
              <a:defRPr sz="1150">
                <a:solidFill>
                  <a:srgbClr val="2C3531"/>
                </a:solidFill>
                <a:latin typeface="Calibri"/>
              </a:defRPr>
            </a:pPr>
            <a:r>
              <a:t>• Sécurité prédictive : Ce pipeline fournit un indicateur précoce permettant d'alerter les gestionnaires de communauté ou de sécurité avant l'escalade des affrontements réels.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6E8276"/>
                </a:solidFill>
                <a:latin typeface="Trebuchet MS"/>
              </a:defRPr>
            </a:pPr>
            <a:r>
              <a:t>PARTIE 2 : RÉALISATIONS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354E43"/>
                </a:solidFill>
                <a:latin typeface="Trebuchet MS"/>
              </a:defRPr>
            </a:pPr>
            <a:r>
              <a:t>L'Assistant Décisionnel RAG &amp; Interface Streamlit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905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 i="0">
                <a:solidFill>
                  <a:srgbClr val="6E8276"/>
                </a:solidFill>
                <a:latin typeface="Trebuchet M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P.1 : Introduction &amp; Contexte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6446520"/>
            <a:ext cx="3108960" cy="38100"/>
          </a:xfrm>
          <a:prstGeom prst="rect">
            <a:avLst/>
          </a:prstGeom>
          <a:solidFill>
            <a:srgbClr val="35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2C3531"/>
                </a:solidFill>
                <a:latin typeface="Trebuchet MS"/>
              </a:defRPr>
            </a:pPr>
            <a:r>
              <a:t>P.2 : Réalisations Techniques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P.3 :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512064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354E43"/>
                </a:solidFill>
                <a:latin typeface="Trebuchet MS"/>
              </a:defRPr>
            </a:pPr>
            <a:r>
              <a:t>Fonctionnement de la boucle ReAct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86000"/>
            <a:ext cx="45720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2C3531"/>
                </a:solidFill>
                <a:latin typeface="Calibri"/>
              </a:defRPr>
            </a:pPr>
            <a:r>
              <a:t>• Base Vectorielle FAISS : Indexation des représentations sémantiques de l'ensemble des commentaires multiplateformes.</a:t>
            </a:r>
          </a:p>
          <a:p>
            <a:pPr>
              <a:spcAft>
                <a:spcPts val="500"/>
              </a:spcAft>
              <a:defRPr sz="1150">
                <a:solidFill>
                  <a:srgbClr val="2C3531"/>
                </a:solidFill>
                <a:latin typeface="Calibri"/>
              </a:defRPr>
            </a:pPr>
            <a:r>
              <a:t>• Boucle ReAct (Qwen2.5) : L'agent reçoit une question utilisateur en langage naturel, recherche le contexte pertinent dans FAISS, raisonne (Thought) et répond (Action).</a:t>
            </a:r>
          </a:p>
          <a:p>
            <a:pPr>
              <a:spcAft>
                <a:spcPts val="500"/>
              </a:spcAft>
              <a:defRPr sz="1150">
                <a:solidFill>
                  <a:srgbClr val="2C3531"/>
                </a:solidFill>
                <a:latin typeface="Calibri"/>
              </a:defRPr>
            </a:pPr>
            <a:r>
              <a:t>• Dashboard Streamlit : Solution centralisée avec métriques clés (taux de polarisation, distribution par plateforme, heatmap XAI LIME/SHAP).</a:t>
            </a:r>
          </a:p>
          <a:p>
            <a:pPr>
              <a:spcAft>
                <a:spcPts val="500"/>
              </a:spcAft>
              <a:defRPr sz="1150">
                <a:solidFill>
                  <a:srgbClr val="2C3531"/>
                </a:solidFill>
                <a:latin typeface="Calibri"/>
              </a:defRPr>
            </a:pPr>
            <a:r>
              <a:t>• Approche méthodologique : Pas de live demo, explication axée sur l'analyse de données et la valeur décisionnelle.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0" y="1645920"/>
            <a:ext cx="5334000" cy="4114800"/>
          </a:xfrm>
          <a:prstGeom prst="roundRect">
            <a:avLst>
              <a:gd name="adj" fmla="val 3000"/>
            </a:avLst>
          </a:prstGeom>
          <a:solidFill>
            <a:srgbClr val="EBF0ED"/>
          </a:solidFill>
          <a:ln w="12700">
            <a:solidFill>
              <a:srgbClr val="6E8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9D3C1289-5C25-7F36-AE12-46E5BE011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225" y="2361966"/>
            <a:ext cx="4953896" cy="228364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6E8276"/>
                </a:solidFill>
                <a:latin typeface="Trebuchet MS"/>
              </a:defRPr>
            </a:pPr>
            <a:r>
              <a:t>PARTIE 3 : BILAN &amp;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354E43"/>
                </a:solidFill>
                <a:latin typeface="Trebuchet MS"/>
              </a:defRPr>
            </a:pPr>
            <a:r>
              <a:t>Conclusion et Bilan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905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 i="0">
                <a:solidFill>
                  <a:srgbClr val="6E8276"/>
                </a:solidFill>
                <a:latin typeface="Trebuchet MS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P.1 : Introduction &amp; Contexte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P.2 : Réalisations Techniques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6446520"/>
            <a:ext cx="3108960" cy="38100"/>
          </a:xfrm>
          <a:prstGeom prst="rect">
            <a:avLst/>
          </a:prstGeom>
          <a:solidFill>
            <a:srgbClr val="35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2C3531"/>
                </a:solidFill>
                <a:latin typeface="Trebuchet MS"/>
              </a:defRPr>
            </a:pPr>
            <a:r>
              <a:t>P.3 :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512064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354E43"/>
                </a:solidFill>
                <a:latin typeface="Trebuchet MS"/>
              </a:defRPr>
            </a:pPr>
            <a:r>
              <a:t>Livrables et Réalisations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77440"/>
            <a:ext cx="45720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C3531"/>
                </a:solidFill>
                <a:latin typeface="Calibri"/>
              </a:defRPr>
            </a:pPr>
            <a:r>
              <a:t>• Code source finalisé : Dépôt Git structuré, documenté et livré fonctionnel aux chercheurs du laboratoire RGU.</a:t>
            </a:r>
          </a:p>
          <a:p>
            <a:pPr>
              <a:spcAft>
                <a:spcPts val="500"/>
              </a:spcAft>
              <a:defRPr sz="1200">
                <a:solidFill>
                  <a:srgbClr val="2C3531"/>
                </a:solidFill>
                <a:latin typeface="Calibri"/>
              </a:defRPr>
            </a:pPr>
            <a:r>
              <a:t>• Pipeline opérationnel : Ingestion, Parser grammatical (spaCy), Classifieur (Toxic-BERT), Explicabilité (LIME/SHAP).</a:t>
            </a:r>
          </a:p>
          <a:p>
            <a:pPr>
              <a:spcAft>
                <a:spcPts val="500"/>
              </a:spcAft>
              <a:defRPr sz="1200">
                <a:solidFill>
                  <a:srgbClr val="2C3531"/>
                </a:solidFill>
                <a:latin typeface="Calibri"/>
              </a:defRPr>
            </a:pPr>
            <a:r>
              <a:t>• Base documentaire : Rapports de fairness et guides de mitigation prêts pour de futures recherches.</a:t>
            </a:r>
          </a:p>
          <a:p>
            <a:pPr>
              <a:spcAft>
                <a:spcPts val="500"/>
              </a:spcAft>
              <a:defRPr sz="1200">
                <a:solidFill>
                  <a:srgbClr val="2C3531"/>
                </a:solidFill>
                <a:latin typeface="Calibri"/>
              </a:defRPr>
            </a:pPr>
            <a:r>
              <a:t>• Interface Streamlit déployée : Prise en main facile par des équipes non techniques.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354E43"/>
                </a:solidFill>
                <a:latin typeface="Trebuchet MS"/>
              </a:defRPr>
            </a:pPr>
            <a:r>
              <a:t>Validation de la Problématique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45720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C3531"/>
                </a:solidFill>
                <a:latin typeface="Calibri"/>
              </a:defRPr>
            </a:pPr>
            <a:r>
              <a:t>• Efficacité démontrée : L'intégration conjointe de règles grammaticales et de deep learning offre un excellent compromis vitesse/précision.</a:t>
            </a:r>
          </a:p>
          <a:p>
            <a:pPr>
              <a:spcAft>
                <a:spcPts val="500"/>
              </a:spcAft>
              <a:defRPr sz="1200">
                <a:solidFill>
                  <a:srgbClr val="2C3531"/>
                </a:solidFill>
                <a:latin typeface="Calibri"/>
              </a:defRPr>
            </a:pPr>
            <a:r>
              <a:t>• Ressources préservées : L'architecture découplée permet des optimisations locales (ex: filtres regex de sécurité) sans modifier le modèle lourd.</a:t>
            </a:r>
          </a:p>
          <a:p>
            <a:pPr>
              <a:spcAft>
                <a:spcPts val="500"/>
              </a:spcAft>
              <a:defRPr sz="1200">
                <a:solidFill>
                  <a:srgbClr val="2C3531"/>
                </a:solidFill>
                <a:latin typeface="Calibri"/>
              </a:defRPr>
            </a:pPr>
            <a:r>
              <a:t>• Utilité pratique : L'assistant RAG prouve qu'un agent autonome peut aider efficacement à la prise de décision opérationnelle pour la sécurité.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6E8276"/>
                </a:solidFill>
                <a:latin typeface="Trebuchet MS"/>
              </a:defRPr>
            </a:pPr>
            <a:r>
              <a:t>PARTIE 3 : BILAN &amp;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354E43"/>
                </a:solidFill>
                <a:latin typeface="Trebuchet MS"/>
              </a:defRPr>
            </a:pPr>
            <a:r>
              <a:t>Prise de Recul et Évolution des Compétences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905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 i="0">
                <a:solidFill>
                  <a:srgbClr val="6E8276"/>
                </a:solidFill>
                <a:latin typeface="Trebuchet MS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P.1 : Introduction &amp; Contexte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P.2 : Réalisations Techniques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6446520"/>
            <a:ext cx="3108960" cy="38100"/>
          </a:xfrm>
          <a:prstGeom prst="rect">
            <a:avLst/>
          </a:prstGeom>
          <a:solidFill>
            <a:srgbClr val="35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2C3531"/>
                </a:solidFill>
                <a:latin typeface="Trebuchet MS"/>
              </a:defRPr>
            </a:pPr>
            <a:r>
              <a:t>P.3 :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512064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354E43"/>
                </a:solidFill>
                <a:latin typeface="Trebuchet MS"/>
              </a:defRPr>
            </a:pPr>
            <a:r>
              <a:t>Gestion des Données et IA (BUT)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4517" y="1410653"/>
            <a:ext cx="1371600" cy="320040"/>
          </a:xfrm>
          <a:prstGeom prst="roundRect">
            <a:avLst/>
          </a:prstGeom>
          <a:solidFill>
            <a:srgbClr val="D37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257276" y="1495425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rebuchet MS"/>
              </a:defRPr>
            </a:pPr>
            <a:r>
              <a:rPr dirty="0"/>
              <a:t>AUTONOME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377440"/>
            <a:ext cx="4572000" cy="21826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 algn="l">
              <a:spcAft>
                <a:spcPts val="500"/>
              </a:spcAft>
              <a:buFont typeface="Arial" panose="020B0604020202020204" pitchFamily="34" charset="0"/>
              <a:buChar char="•"/>
              <a:defRPr sz="1100" b="0" i="0">
                <a:solidFill>
                  <a:srgbClr val="2C3531"/>
                </a:solidFill>
                <a:latin typeface="Calibri"/>
              </a:defRPr>
            </a:pPr>
            <a:r>
              <a:rPr dirty="0" err="1"/>
              <a:t>Niveau</a:t>
            </a:r>
            <a:r>
              <a:rPr dirty="0"/>
              <a:t> Initial : </a:t>
            </a:r>
            <a:r>
              <a:rPr dirty="0" err="1"/>
              <a:t>Intermédiaire</a:t>
            </a:r>
            <a:r>
              <a:rPr dirty="0"/>
              <a:t>. Bonne </a:t>
            </a:r>
            <a:r>
              <a:rPr dirty="0" err="1"/>
              <a:t>compréhension</a:t>
            </a:r>
            <a:r>
              <a:rPr dirty="0"/>
              <a:t> des </a:t>
            </a:r>
            <a:r>
              <a:rPr dirty="0" err="1"/>
              <a:t>algorithmes</a:t>
            </a:r>
            <a:r>
              <a:rPr dirty="0"/>
              <a:t> </a:t>
            </a:r>
            <a:r>
              <a:rPr dirty="0" err="1"/>
              <a:t>basiques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manque </a:t>
            </a:r>
            <a:r>
              <a:rPr dirty="0" err="1"/>
              <a:t>d'expérience</a:t>
            </a:r>
            <a:r>
              <a:rPr dirty="0"/>
              <a:t> sur de grands volumes et </a:t>
            </a:r>
            <a:r>
              <a:rPr dirty="0" err="1"/>
              <a:t>l'intégration</a:t>
            </a:r>
            <a:r>
              <a:rPr dirty="0"/>
              <a:t> de vector stores.</a:t>
            </a:r>
          </a:p>
          <a:p>
            <a:pPr>
              <a:spcAft>
                <a:spcPts val="500"/>
              </a:spcAft>
              <a:defRPr sz="1100">
                <a:solidFill>
                  <a:srgbClr val="2C3531"/>
                </a:solidFill>
                <a:latin typeface="Calibri"/>
              </a:defRPr>
            </a:pPr>
            <a:endParaRPr lang="fr-FR" dirty="0"/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2C3531"/>
                </a:solidFill>
                <a:latin typeface="Calibri"/>
              </a:defRPr>
            </a:pPr>
            <a:r>
              <a:rPr dirty="0" err="1"/>
              <a:t>Niveau</a:t>
            </a:r>
            <a:r>
              <a:rPr dirty="0"/>
              <a:t> </a:t>
            </a:r>
            <a:r>
              <a:rPr dirty="0" err="1"/>
              <a:t>Atteint</a:t>
            </a:r>
            <a:r>
              <a:rPr dirty="0"/>
              <a:t> : </a:t>
            </a:r>
            <a:r>
              <a:rPr dirty="0" err="1"/>
              <a:t>Autonome</a:t>
            </a:r>
            <a:r>
              <a:rPr dirty="0"/>
              <a:t>.</a:t>
            </a:r>
            <a:endParaRPr lang="fr-FR" dirty="0"/>
          </a:p>
          <a:p>
            <a:pPr marL="628650" lvl="1" indent="-171450">
              <a:spcAft>
                <a:spcPts val="500"/>
              </a:spcAft>
              <a:buFont typeface="Courier New" panose="02070309020205020404" pitchFamily="49" charset="0"/>
              <a:buChar char="o"/>
              <a:defRPr sz="1100">
                <a:solidFill>
                  <a:srgbClr val="2C3531"/>
                </a:solidFill>
                <a:latin typeface="Calibri"/>
              </a:defRPr>
            </a:pPr>
            <a:r>
              <a:rPr dirty="0" err="1"/>
              <a:t>Maîtrise</a:t>
            </a:r>
            <a:r>
              <a:rPr dirty="0"/>
              <a:t> des pipelines NLP </a:t>
            </a:r>
            <a:r>
              <a:rPr dirty="0" err="1"/>
              <a:t>avancés</a:t>
            </a:r>
            <a:r>
              <a:rPr dirty="0"/>
              <a:t> (</a:t>
            </a:r>
            <a:r>
              <a:rPr dirty="0" err="1"/>
              <a:t>spaCy</a:t>
            </a:r>
            <a:r>
              <a:rPr dirty="0"/>
              <a:t>, </a:t>
            </a:r>
            <a:r>
              <a:rPr dirty="0" err="1"/>
              <a:t>tokenisation</a:t>
            </a:r>
            <a:r>
              <a:rPr dirty="0"/>
              <a:t> </a:t>
            </a:r>
            <a:r>
              <a:rPr dirty="0" err="1"/>
              <a:t>personnalisée</a:t>
            </a:r>
            <a:r>
              <a:rPr dirty="0"/>
              <a:t>, pos-tagging).</a:t>
            </a:r>
          </a:p>
          <a:p>
            <a:pPr marL="628650" lvl="1" indent="-171450">
              <a:spcAft>
                <a:spcPts val="500"/>
              </a:spcAft>
              <a:buFont typeface="Courier New" panose="02070309020205020404" pitchFamily="49" charset="0"/>
              <a:buChar char="o"/>
              <a:defRPr sz="1100">
                <a:solidFill>
                  <a:srgbClr val="2C3531"/>
                </a:solidFill>
                <a:latin typeface="Calibri"/>
              </a:defRPr>
            </a:pPr>
            <a:r>
              <a:rPr dirty="0" err="1"/>
              <a:t>Implémentation</a:t>
            </a:r>
            <a:r>
              <a:rPr dirty="0"/>
              <a:t> </a:t>
            </a:r>
            <a:r>
              <a:rPr dirty="0" err="1"/>
              <a:t>complète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base </a:t>
            </a:r>
            <a:r>
              <a:rPr dirty="0" err="1"/>
              <a:t>vectorielle</a:t>
            </a:r>
            <a:r>
              <a:rPr dirty="0"/>
              <a:t> FAISS et orchestration avec un agent </a:t>
            </a:r>
            <a:r>
              <a:rPr dirty="0" err="1"/>
              <a:t>ReAct</a:t>
            </a:r>
            <a:r>
              <a:rPr dirty="0"/>
              <a:t>.</a:t>
            </a:r>
          </a:p>
          <a:p>
            <a:pPr marL="628650" lvl="1" indent="-171450">
              <a:spcAft>
                <a:spcPts val="500"/>
              </a:spcAft>
              <a:buFont typeface="Courier New" panose="02070309020205020404" pitchFamily="49" charset="0"/>
              <a:buChar char="o"/>
              <a:defRPr sz="1100">
                <a:solidFill>
                  <a:srgbClr val="2C3531"/>
                </a:solidFill>
                <a:latin typeface="Calibri"/>
              </a:defRPr>
            </a:pPr>
            <a:r>
              <a:rPr dirty="0"/>
              <a:t>Audit </a:t>
            </a:r>
            <a:r>
              <a:rPr dirty="0" err="1"/>
              <a:t>d'équité</a:t>
            </a:r>
            <a:r>
              <a:rPr dirty="0"/>
              <a:t> </a:t>
            </a:r>
            <a:r>
              <a:rPr dirty="0" err="1"/>
              <a:t>algorithmique</a:t>
            </a:r>
            <a:r>
              <a:rPr dirty="0"/>
              <a:t> : </a:t>
            </a:r>
            <a:r>
              <a:rPr dirty="0" err="1"/>
              <a:t>évaluation</a:t>
            </a:r>
            <a:r>
              <a:rPr dirty="0"/>
              <a:t> </a:t>
            </a:r>
            <a:r>
              <a:rPr dirty="0" err="1"/>
              <a:t>rigoureuse</a:t>
            </a:r>
            <a:r>
              <a:rPr dirty="0"/>
              <a:t> de la distribution </a:t>
            </a:r>
            <a:r>
              <a:rPr dirty="0" err="1"/>
              <a:t>d'erreurs</a:t>
            </a:r>
            <a:r>
              <a:rPr dirty="0"/>
              <a:t> (FPR gaps).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354E43"/>
                </a:solidFill>
                <a:latin typeface="Trebuchet MS"/>
              </a:defRPr>
            </a:pPr>
            <a:r>
              <a:t>Conduite de Projet en Autonomie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414618"/>
            <a:ext cx="1371600" cy="320040"/>
          </a:xfrm>
          <a:prstGeom prst="roundRect">
            <a:avLst/>
          </a:prstGeom>
          <a:solidFill>
            <a:srgbClr val="D37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9784080" y="148209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Trebuchet MS"/>
              </a:defRPr>
            </a:pPr>
            <a:r>
              <a:rPr dirty="0"/>
              <a:t>AUTONOME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377440"/>
            <a:ext cx="4572000" cy="20133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 algn="l">
              <a:spcAft>
                <a:spcPts val="500"/>
              </a:spcAft>
              <a:buFont typeface="Arial" panose="020B0604020202020204" pitchFamily="34" charset="0"/>
              <a:buChar char="•"/>
              <a:defRPr sz="1100" b="0" i="0">
                <a:solidFill>
                  <a:srgbClr val="2C3531"/>
                </a:solidFill>
                <a:latin typeface="Calibri"/>
              </a:defRPr>
            </a:pPr>
            <a:r>
              <a:rPr dirty="0" err="1"/>
              <a:t>Niveau</a:t>
            </a:r>
            <a:r>
              <a:rPr dirty="0"/>
              <a:t> Initial : </a:t>
            </a:r>
            <a:r>
              <a:rPr dirty="0" err="1"/>
              <a:t>Intermédiaire</a:t>
            </a:r>
            <a:r>
              <a:rPr dirty="0"/>
              <a:t>. Habitué aux </a:t>
            </a:r>
            <a:r>
              <a:rPr dirty="0" err="1"/>
              <a:t>projets</a:t>
            </a:r>
            <a:r>
              <a:rPr dirty="0"/>
              <a:t> </a:t>
            </a:r>
            <a:r>
              <a:rPr dirty="0" err="1"/>
              <a:t>encadrés</a:t>
            </a:r>
            <a:r>
              <a:rPr dirty="0"/>
              <a:t> de BUT avec des </a:t>
            </a:r>
            <a:r>
              <a:rPr dirty="0" err="1"/>
              <a:t>livrables</a:t>
            </a:r>
            <a:r>
              <a:rPr dirty="0"/>
              <a:t> bien </a:t>
            </a:r>
            <a:r>
              <a:rPr dirty="0" err="1"/>
              <a:t>définis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100">
                <a:solidFill>
                  <a:srgbClr val="2C3531"/>
                </a:solidFill>
                <a:latin typeface="Calibri"/>
              </a:defRPr>
            </a:pPr>
            <a:endParaRPr lang="fr-FR" dirty="0"/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2C3531"/>
                </a:solidFill>
                <a:latin typeface="Calibri"/>
              </a:defRPr>
            </a:pPr>
            <a:r>
              <a:rPr dirty="0" err="1"/>
              <a:t>Niveau</a:t>
            </a:r>
            <a:r>
              <a:rPr dirty="0"/>
              <a:t> </a:t>
            </a:r>
            <a:r>
              <a:rPr dirty="0" err="1"/>
              <a:t>Atteint</a:t>
            </a:r>
            <a:r>
              <a:rPr dirty="0"/>
              <a:t> : </a:t>
            </a:r>
            <a:r>
              <a:rPr dirty="0" err="1"/>
              <a:t>Autonome</a:t>
            </a:r>
            <a:r>
              <a:rPr dirty="0"/>
              <a:t>.</a:t>
            </a:r>
          </a:p>
          <a:p>
            <a:pPr marL="628650" lvl="1" indent="-171450">
              <a:spcAft>
                <a:spcPts val="500"/>
              </a:spcAft>
              <a:buFont typeface="Courier New" panose="02070309020205020404" pitchFamily="49" charset="0"/>
              <a:buChar char="o"/>
              <a:defRPr sz="1100">
                <a:solidFill>
                  <a:srgbClr val="2C3531"/>
                </a:solidFill>
                <a:latin typeface="Calibri"/>
              </a:defRPr>
            </a:pPr>
            <a:r>
              <a:rPr dirty="0"/>
              <a:t>Gestion de </a:t>
            </a:r>
            <a:r>
              <a:rPr dirty="0" err="1"/>
              <a:t>projet</a:t>
            </a:r>
            <a:r>
              <a:rPr dirty="0"/>
              <a:t> Agile/Git </a:t>
            </a:r>
            <a:r>
              <a:rPr dirty="0" err="1"/>
              <a:t>menée</a:t>
            </a:r>
            <a:r>
              <a:rPr dirty="0"/>
              <a:t> de manière </a:t>
            </a:r>
            <a:r>
              <a:rPr dirty="0" err="1"/>
              <a:t>indépendante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laboratoire</a:t>
            </a:r>
            <a:r>
              <a:rPr dirty="0"/>
              <a:t> de recherche.</a:t>
            </a:r>
          </a:p>
          <a:p>
            <a:pPr marL="628650" lvl="1" indent="-171450">
              <a:spcAft>
                <a:spcPts val="500"/>
              </a:spcAft>
              <a:buFont typeface="Courier New" panose="02070309020205020404" pitchFamily="49" charset="0"/>
              <a:buChar char="o"/>
              <a:defRPr sz="1100">
                <a:solidFill>
                  <a:srgbClr val="2C3531"/>
                </a:solidFill>
                <a:latin typeface="Calibri"/>
              </a:defRPr>
            </a:pPr>
            <a:r>
              <a:rPr dirty="0"/>
              <a:t>Communication technique et </a:t>
            </a:r>
            <a:r>
              <a:rPr dirty="0" err="1"/>
              <a:t>rédaction</a:t>
            </a:r>
            <a:r>
              <a:rPr dirty="0"/>
              <a:t> </a:t>
            </a:r>
            <a:r>
              <a:rPr dirty="0" err="1"/>
              <a:t>scientifique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contexte</a:t>
            </a:r>
            <a:r>
              <a:rPr dirty="0"/>
              <a:t> international.</a:t>
            </a:r>
            <a:endParaRPr lang="fr-FR" dirty="0"/>
          </a:p>
          <a:p>
            <a:pPr marL="628650" lvl="1" indent="-171450">
              <a:spcAft>
                <a:spcPts val="500"/>
              </a:spcAft>
              <a:buFont typeface="Courier New" panose="02070309020205020404" pitchFamily="49" charset="0"/>
              <a:buChar char="o"/>
              <a:defRPr sz="1100">
                <a:solidFill>
                  <a:srgbClr val="2C3531"/>
                </a:solidFill>
                <a:latin typeface="Calibri"/>
              </a:defRPr>
            </a:pPr>
            <a:r>
              <a:rPr lang="fr-FR" dirty="0"/>
              <a:t>Capacité à pivoter face aux verrous techniques (ex: échec d'API, faux positifs </a:t>
            </a:r>
            <a:r>
              <a:rPr lang="fr-FR" dirty="0" err="1"/>
              <a:t>Reddit</a:t>
            </a:r>
            <a:r>
              <a:rPr lang="fr-FR" dirty="0"/>
              <a:t>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6E8276"/>
                </a:solidFill>
                <a:latin typeface="Trebuchet MS"/>
              </a:defRPr>
            </a:pPr>
            <a:r>
              <a:t>PARTIE 3 : BILAN &amp;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354E43"/>
                </a:solidFill>
                <a:latin typeface="Trebuchet MS"/>
              </a:defRPr>
            </a:pPr>
            <a:r>
              <a:t>Projet Professionnel et Réflexion Éthique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905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 i="0">
                <a:solidFill>
                  <a:srgbClr val="6E8276"/>
                </a:solidFill>
                <a:latin typeface="Trebuchet MS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P.1 : Introduction &amp; Contexte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6446520"/>
            <a:ext cx="3108960" cy="38100"/>
          </a:xfrm>
          <a:prstGeom prst="rect">
            <a:avLst/>
          </a:prstGeom>
          <a:solidFill>
            <a:srgbClr val="EB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6E8276"/>
                </a:solidFill>
                <a:latin typeface="Trebuchet MS"/>
              </a:defRPr>
            </a:pPr>
            <a:r>
              <a:t>P.2 : Réalisations Techniques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6446520"/>
            <a:ext cx="3108960" cy="38100"/>
          </a:xfrm>
          <a:prstGeom prst="rect">
            <a:avLst/>
          </a:prstGeom>
          <a:solidFill>
            <a:srgbClr val="35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6217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2C3531"/>
                </a:solidFill>
                <a:latin typeface="Trebuchet MS"/>
              </a:defRPr>
            </a:pPr>
            <a:r>
              <a:t>P.3 : Bilan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512064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B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354E43"/>
                </a:solidFill>
                <a:latin typeface="Trebuchet MS"/>
              </a:defRPr>
            </a:pPr>
            <a:r>
              <a:t>Avenir Professionnel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77440"/>
            <a:ext cx="45720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C3531"/>
                </a:solidFill>
                <a:latin typeface="Calibri"/>
              </a:defRPr>
            </a:pPr>
            <a:r>
              <a:t>• Confirmation de mon intérêt pour le génie logiciel axé sur la donnée et l'intelligence artificielle.</a:t>
            </a:r>
          </a:p>
          <a:p>
            <a:pPr>
              <a:spcAft>
                <a:spcPts val="500"/>
              </a:spcAft>
              <a:defRPr sz="1200">
                <a:solidFill>
                  <a:srgbClr val="2C3531"/>
                </a:solidFill>
                <a:latin typeface="Calibri"/>
              </a:defRPr>
            </a:pPr>
            <a:r>
              <a:t>• Orientation future : Volonté de se spécialiser dans les technologies du Traitement Automatique du Langage Naturel (NLP) et des architectures d'agents.</a:t>
            </a:r>
          </a:p>
          <a:p>
            <a:pPr>
              <a:spcAft>
                <a:spcPts val="500"/>
              </a:spcAft>
              <a:defRPr sz="1200">
                <a:solidFill>
                  <a:srgbClr val="2C3531"/>
                </a:solidFill>
                <a:latin typeface="Calibri"/>
              </a:defRPr>
            </a:pPr>
            <a:r>
              <a:t>• Poursuite d'études vers un cycle d'ingénieur ou master spécialisé en IA après la validation du BUT3.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37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D37F63"/>
                </a:solidFill>
                <a:latin typeface="Trebuchet MS"/>
              </a:defRPr>
            </a:pPr>
            <a:r>
              <a:t>Responsabilité et Éthique de l'Ingénieur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45720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C3531"/>
                </a:solidFill>
                <a:latin typeface="Calibri"/>
              </a:defRPr>
            </a:pPr>
            <a:r>
              <a:t>• Prise de conscience : Un modèle de modération ou de détection automatique n'est pas neutre et peut reproduire des biais systémiques.</a:t>
            </a:r>
          </a:p>
          <a:p>
            <a:pPr>
              <a:spcAft>
                <a:spcPts val="500"/>
              </a:spcAft>
              <a:defRPr sz="1200">
                <a:solidFill>
                  <a:srgbClr val="2C3531"/>
                </a:solidFill>
                <a:latin typeface="Calibri"/>
              </a:defRPr>
            </a:pPr>
            <a:r>
              <a:t>• Nécessité de l'explicabilité (XAI) : Expliquer pourquoi un commentaire est étiqueté comme 'toxique' (LIME/SHAP) est indispensable pour garantir l'acceptabilité sociale et la transparence.</a:t>
            </a:r>
          </a:p>
          <a:p>
            <a:pPr>
              <a:spcAft>
                <a:spcPts val="500"/>
              </a:spcAft>
              <a:defRPr sz="1200">
                <a:solidFill>
                  <a:srgbClr val="2C3531"/>
                </a:solidFill>
                <a:latin typeface="Calibri"/>
              </a:defRPr>
            </a:pPr>
            <a:r>
              <a:t>• Équité (Fairness) : Monitorer continuellement les disparités d'évaluation pour éviter la discrimination des dialectes/argots régionaux.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37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17904" y="1371600"/>
            <a:ext cx="914400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354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32304" y="182880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200" b="1" i="0">
                <a:solidFill>
                  <a:srgbClr val="354E43"/>
                </a:solidFill>
                <a:latin typeface="Trebuchet MS"/>
              </a:defRPr>
            </a:pPr>
            <a:r>
              <a:t>Je vous remercie pour votre attention.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9504" y="2834640"/>
            <a:ext cx="6400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2C3531"/>
                </a:solidFill>
                <a:latin typeface="Calibri"/>
              </a:defRPr>
            </a:pPr>
            <a:r>
              <a:t>Mes remerciements les plus sincères s'adressent à :</a:t>
            </a:r>
            <a:br/>
            <a:br/>
            <a:r>
              <a:t>• Dr. Shahana Bano, superviseure de stage à Robert Gordon University,</a:t>
            </a:r>
            <a:br/>
            <a:r>
              <a:t>• M. Jonathan Paris, tuteur pédagogique pour l'IUT du Limousin,</a:t>
            </a:r>
            <a:br/>
            <a:r>
              <a:t>• Les membres du jury pour l'évaluation de cette présentation.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2304" y="46634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 i="0">
                <a:solidFill>
                  <a:srgbClr val="D37F63"/>
                </a:solidFill>
                <a:latin typeface="Trebuchet MS"/>
              </a:defRPr>
            </a:pPr>
            <a:r>
              <a:t>Place aux questions et aux échanges.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 i="0">
                <a:solidFill>
                  <a:srgbClr val="6E8276"/>
                </a:solidFill>
                <a:latin typeface="Trebuchet M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2221</Words>
  <Application>Microsoft Macintosh PowerPoint</Application>
  <PresentationFormat>Grand écran</PresentationFormat>
  <Paragraphs>214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JULES GAYET (2525334)</cp:lastModifiedBy>
  <cp:revision>2</cp:revision>
  <dcterms:created xsi:type="dcterms:W3CDTF">2013-01-27T09:14:16Z</dcterms:created>
  <dcterms:modified xsi:type="dcterms:W3CDTF">2026-06-14T15:00:44Z</dcterms:modified>
  <cp:category/>
</cp:coreProperties>
</file>